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9ED0-6A3D-FB1F-94E6-8AD64DDF9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AB2BD-16CF-9A18-00E7-25F1F8088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D453B-62ED-FE76-2A87-81BCDE99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30B71-AFEF-281D-B284-6945190B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293D0-DA9A-577D-7764-E20F2BE9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18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5C48B-ACF7-F937-4C9B-4129495D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880E5-728E-B8E4-447F-F6BCD2A0E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8896-8B53-6C66-5098-5552201B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332BB-E727-2D6B-7012-04F9D781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75379-00BC-ED1C-55C1-CB5235B2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05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51AF-336F-A188-E17D-9B48B814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7CB6B-67AA-C7F7-E660-379D4EADA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85BB-CBEA-6F2B-6404-74C6E525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B8264-8B59-E87D-9295-A74FB301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53ACC-40E4-7021-8530-59BE984A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05AA-56C9-27B1-7C8E-1D1FA560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A92DB-CCDB-D9DA-1E5A-A41EB3E07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9172B-77D3-E88B-04F2-2F61C31FB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CCE77-E8B3-E6F0-FA57-3ED57E20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1288-20AB-14F5-6B74-973E160E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D2ACF-B9D7-3FA5-441F-22F2A21F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50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2A92-5509-A265-E7DF-6045D89F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96A6-02CD-1847-EE77-37C8BC6D4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B9800-79EB-1615-7EE2-744DC4B13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9A47E-4F53-93AA-18F3-6BC856D7D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748B1-FB8D-A06F-B0AC-950F31274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38F4A-17DE-BFC1-2D3F-D8EAC921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7B607-0B69-2D00-0C99-1BAF1461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08C05-27B0-5E70-9F2C-BAA9AAF7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65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ED26-F140-9679-D6F5-D6291C895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7F228-EF71-9185-24C4-3E823208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D3722-2AD8-BE20-7863-6E15C6C4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AEC23-A3B5-16D3-E05A-5116575D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0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155E0-7C7D-11FB-7DF8-2517EA55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EE3AA-AB14-AC63-A322-84991FF4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8146D-A311-F33D-98E4-E1759011F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91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DBFD-C987-8E01-783E-12CC7BB4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8CB5C-EC66-2F88-40B1-502466D2F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297E0-2F3A-059E-69AD-B99D11611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B0FC5-CDF9-00F0-D3A0-E7FCF379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28E29-83E8-A960-41A4-34E8D449D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ABC2C-C010-FED2-BB7C-F6FCF9A3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9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AA0FB-B350-D1FF-9AD8-5A193E0B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A34E2-F811-338D-4254-C3B79CA81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AD0AD-E660-9114-9CC8-C1C83A05D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51FBA-4E55-1A91-BA2B-358723887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C9527-2FB9-6B45-5245-BB993B60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9AEBA-3743-2C93-73FD-13CD8D405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57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BEEF-5426-7A3C-BB8F-CA381BA1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B1BEC-98F3-C4BB-3CD4-96EB2E815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CC7CE-72E2-4FD4-62FD-AAEC02F3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623E0-EF61-DD88-DDFD-CF50A488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8098C-178F-A4A5-97CA-AD5BD8D7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34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D92E63-CDF5-DCB4-E93C-488875C0E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AA2F1-85DD-B8AC-94B8-61217240E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8955C-2751-89F9-86DC-54469A47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50B6C-5002-015B-60E6-404D51F0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3EB6F-7624-396B-548B-EF5B6AF4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05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2F513C-E645-EA0D-7B25-3906E1DB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85186-8679-AEAB-C7BD-AA6EAAABB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72256-2544-A128-AE60-06110D868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DC12C-A828-4333-AE90-F55967CAEE46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E2CDA-9E9F-476B-054A-BCEB85525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95F6D-0E88-38F6-691C-640099D68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87742-12D9-45BB-8F7A-6DF675BFE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08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24BE-0824-0A9F-66E1-90F82DBCE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182"/>
            <a:ext cx="9261987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Pest Monitoring in Greenhouses Using Vision Technology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9655C-0484-AD9A-4047-AA5BE672A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9135" y="1946276"/>
            <a:ext cx="8711381" cy="566839"/>
          </a:xfrm>
        </p:spPr>
        <p:txBody>
          <a:bodyPr/>
          <a:lstStyle/>
          <a:p>
            <a:r>
              <a:rPr lang="en-US" dirty="0"/>
              <a:t>Optimizing Pest Control through Automated Visual Detection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7E437-2682-FA70-3101-58FB485B4BA2}"/>
              </a:ext>
            </a:extLst>
          </p:cNvPr>
          <p:cNvSpPr txBox="1"/>
          <p:nvPr/>
        </p:nvSpPr>
        <p:spPr>
          <a:xfrm>
            <a:off x="432619" y="5034116"/>
            <a:ext cx="328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by: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09EB9-7A5E-5862-8601-05E9552553C2}"/>
              </a:ext>
            </a:extLst>
          </p:cNvPr>
          <p:cNvSpPr txBox="1"/>
          <p:nvPr/>
        </p:nvSpPr>
        <p:spPr>
          <a:xfrm>
            <a:off x="9011264" y="4904150"/>
            <a:ext cx="328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to: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376FD-7A98-D8BD-95B0-18885A306EF1}"/>
              </a:ext>
            </a:extLst>
          </p:cNvPr>
          <p:cNvSpPr txBox="1"/>
          <p:nvPr/>
        </p:nvSpPr>
        <p:spPr>
          <a:xfrm>
            <a:off x="432619" y="5574890"/>
            <a:ext cx="3283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Harshita</a:t>
            </a:r>
          </a:p>
          <a:p>
            <a:r>
              <a:rPr lang="en-IN" dirty="0"/>
              <a:t>Bhawna </a:t>
            </a:r>
            <a:r>
              <a:rPr lang="en-IN" dirty="0" err="1"/>
              <a:t>chaudhary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003F2-B615-B6C1-4E57-E9E8BD1F2826}"/>
              </a:ext>
            </a:extLst>
          </p:cNvPr>
          <p:cNvSpPr txBox="1"/>
          <p:nvPr/>
        </p:nvSpPr>
        <p:spPr>
          <a:xfrm>
            <a:off x="9011264" y="5403448"/>
            <a:ext cx="2630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Kirti Ma’am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B18A25-6571-10D3-DA7E-815E80F2F8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69" y="0"/>
            <a:ext cx="12207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6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D2D80-5B9C-A61C-4497-A24F25FAF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/>
              <a:t>Introduction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9BD8E-4DB5-4876-23DD-F4D6CCA53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300" b="1"/>
              <a:t>Background:</a:t>
            </a:r>
            <a:endParaRPr lang="en-US" sz="1300"/>
          </a:p>
          <a:p>
            <a:pPr>
              <a:buFont typeface="Arial" panose="020B0604020202020204" pitchFamily="34" charset="0"/>
              <a:buChar char="•"/>
            </a:pPr>
            <a:r>
              <a:rPr lang="en-US" sz="1300"/>
              <a:t>Greenhouses require effective pest control to protect crops and maintain yield.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/>
              <a:t>Traditional pest control relies on manual monitoring, which is time-consuming and error-prone.</a:t>
            </a:r>
          </a:p>
          <a:p>
            <a:pPr>
              <a:buNone/>
            </a:pPr>
            <a:endParaRPr lang="en-US" sz="1300" b="1"/>
          </a:p>
          <a:p>
            <a:pPr>
              <a:buNone/>
            </a:pPr>
            <a:r>
              <a:rPr lang="en-US" sz="1300" b="1"/>
              <a:t>Problem Statement:</a:t>
            </a:r>
            <a:endParaRPr lang="en-US" sz="1300"/>
          </a:p>
          <a:p>
            <a:pPr>
              <a:buFont typeface="Arial" panose="020B0604020202020204" pitchFamily="34" charset="0"/>
              <a:buChar char="•"/>
            </a:pPr>
            <a:r>
              <a:rPr lang="en-US" sz="1300"/>
              <a:t>Manual inspection is inefficient and may miss early-stage invasion.</a:t>
            </a:r>
          </a:p>
          <a:p>
            <a:pPr>
              <a:buNone/>
            </a:pPr>
            <a:endParaRPr lang="en-US" sz="1300" b="1"/>
          </a:p>
          <a:p>
            <a:pPr>
              <a:buNone/>
            </a:pPr>
            <a:r>
              <a:rPr lang="en-US" sz="1300" b="1"/>
              <a:t>Objective:</a:t>
            </a:r>
            <a:endParaRPr lang="en-US" sz="1300"/>
          </a:p>
          <a:p>
            <a:pPr>
              <a:buFont typeface="Arial" panose="020B0604020202020204" pitchFamily="34" charset="0"/>
              <a:buChar char="•"/>
            </a:pPr>
            <a:r>
              <a:rPr lang="en-US" sz="1300"/>
              <a:t>Develop an automated, vision-based system for real-time pest detection that optimizes pest management strategies.</a:t>
            </a:r>
          </a:p>
          <a:p>
            <a:endParaRPr lang="en-IN" sz="1300"/>
          </a:p>
        </p:txBody>
      </p:sp>
      <p:pic>
        <p:nvPicPr>
          <p:cNvPr id="5" name="Picture 4" descr="Cornfields with bright sky">
            <a:extLst>
              <a:ext uri="{FF2B5EF4-FFF2-40B4-BE49-F238E27FC236}">
                <a16:creationId xmlns:a16="http://schemas.microsoft.com/office/drawing/2014/main" id="{F17C410A-6ECB-6C86-E236-D8D7BA00A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47" r="25652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14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FD0A1-C51F-6902-8AEC-8F1306AF5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3700"/>
              <a:t>Motivation &amp; Research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6F239-7F21-8168-0D03-50D5499B8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000" b="1"/>
              <a:t>Motivation:</a:t>
            </a:r>
            <a:endParaRPr lang="en-US" sz="1000"/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Enhance yield by reducing crop damage from pests.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Lower costs and minimize environmental impact by reducing excessive pesticide use.</a:t>
            </a:r>
          </a:p>
          <a:p>
            <a:pPr>
              <a:buNone/>
            </a:pPr>
            <a:endParaRPr lang="en-US" sz="1000" b="1"/>
          </a:p>
          <a:p>
            <a:pPr>
              <a:buNone/>
            </a:pPr>
            <a:r>
              <a:rPr lang="en-US" sz="1000" b="1"/>
              <a:t>Significance:</a:t>
            </a:r>
            <a:endParaRPr lang="en-US" sz="1000"/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Early and accurate detection enables prompt action and integrated pest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Supports sustainable agriculture by enabling precise, data-driven pest control.</a:t>
            </a:r>
          </a:p>
          <a:p>
            <a:pPr>
              <a:buNone/>
            </a:pPr>
            <a:endParaRPr lang="en-US" sz="1000" b="1"/>
          </a:p>
          <a:p>
            <a:pPr>
              <a:buNone/>
            </a:pPr>
            <a:r>
              <a:rPr lang="en-US" sz="1000" b="1"/>
              <a:t>Key Contributions:</a:t>
            </a:r>
            <a:endParaRPr lang="en-US" sz="1000"/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Implementation of a deep learning model using an open-source IP02 dataset from Kaggle.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Integration of data augmentation, transfer learning, and evaluation metrics to achieve robust pest detection.</a:t>
            </a:r>
          </a:p>
          <a:p>
            <a:endParaRPr lang="en-IN" sz="1000"/>
          </a:p>
        </p:txBody>
      </p:sp>
      <p:pic>
        <p:nvPicPr>
          <p:cNvPr id="5" name="Picture 4" descr="A hand touching a small plant">
            <a:extLst>
              <a:ext uri="{FF2B5EF4-FFF2-40B4-BE49-F238E27FC236}">
                <a16:creationId xmlns:a16="http://schemas.microsoft.com/office/drawing/2014/main" id="{32A53341-F6E6-3755-543E-F50F2613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01" r="-2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9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589B4-F3CF-A04D-2C64-8CC1BA04A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/>
              <a:t>Literature Review &amp; Related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4DC94-0F68-4C3E-E6A8-A3A7DAB3E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Related Methods:</a:t>
            </a:r>
            <a:endParaRPr lang="en-US" sz="11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/>
              <a:t>Manual pest inspection and traditional image-based techniques.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/>
              <a:t>Previous computer vision approaches in agriculture with limited real-time application.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100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Identified Gaps:</a:t>
            </a:r>
            <a:endParaRPr lang="en-US" sz="11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/>
              <a:t>Insufficient accuracy in dynamic greenhouse environments.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/>
              <a:t>Lack of robust, scalable real-time detection systems.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100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Our Approach:</a:t>
            </a:r>
            <a:endParaRPr lang="en-US" sz="11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/>
              <a:t>Leveraging state-of-the-art deep learning (MobileNetV2) with transfer learning on the IP02 dataset.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/>
              <a:t>Addressing limitations through comprehensive data augmentation and model optimization.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E7D9B-20F3-B116-BE9D-91959F5B54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55" r="24289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3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EBC7-4C08-CF20-1DAE-4C5EA99B5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014" y="647700"/>
            <a:ext cx="2835554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/>
              <a:t>Dataset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EBCF4-9057-9ADB-DC9C-6C4DDC88D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302" y="647700"/>
            <a:ext cx="3618162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/>
              <a:t>Dataset Source:</a:t>
            </a:r>
            <a:endParaRPr lang="en-US" sz="18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IP02 dataset from Kaggle.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/>
              <a:t>Dataset Structure:</a:t>
            </a:r>
            <a:endParaRPr lang="en-US" sz="18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Three main folders: </a:t>
            </a:r>
            <a:r>
              <a:rPr lang="en-US" sz="1800" b="1"/>
              <a:t>train</a:t>
            </a:r>
            <a:r>
              <a:rPr lang="en-US" sz="1800"/>
              <a:t>, </a:t>
            </a:r>
            <a:r>
              <a:rPr lang="en-US" sz="1800" b="1"/>
              <a:t>val</a:t>
            </a:r>
            <a:r>
              <a:rPr lang="en-US" sz="1800"/>
              <a:t>, and </a:t>
            </a:r>
            <a:r>
              <a:rPr lang="en-US" sz="1800" b="1"/>
              <a:t>test</a:t>
            </a:r>
            <a:r>
              <a:rPr lang="en-US" sz="1800"/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Each folder contains around 100 directories corresponding to 102 pest classes.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/>
              <a:t>Data Details:</a:t>
            </a:r>
            <a:endParaRPr lang="en-US" sz="18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Each class has 100+ images with varied conditions (lighting, angles, occlusion).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Provides a challenging yet comprehensive resource to train and validate a robust model.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/>
          </a:p>
        </p:txBody>
      </p:sp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38B19A2F-7A4F-3748-4E9A-AF25F284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73" r="25769" b="1"/>
          <a:stretch/>
        </p:blipFill>
        <p:spPr>
          <a:xfrm>
            <a:off x="7431299" y="1"/>
            <a:ext cx="4760702" cy="6856413"/>
          </a:xfrm>
          <a:custGeom>
            <a:avLst/>
            <a:gdLst/>
            <a:ahLst/>
            <a:cxnLst/>
            <a:rect l="l" t="t" r="r" b="b"/>
            <a:pathLst>
              <a:path w="4760702" h="6856413">
                <a:moveTo>
                  <a:pt x="0" y="0"/>
                </a:moveTo>
                <a:lnTo>
                  <a:pt x="4760702" y="0"/>
                </a:lnTo>
                <a:lnTo>
                  <a:pt x="4760702" y="6856413"/>
                </a:lnTo>
                <a:lnTo>
                  <a:pt x="168269" y="6856413"/>
                </a:lnTo>
                <a:lnTo>
                  <a:pt x="228520" y="6494592"/>
                </a:lnTo>
                <a:cubicBezTo>
                  <a:pt x="521784" y="4449343"/>
                  <a:pt x="126947" y="2404092"/>
                  <a:pt x="14408" y="35884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27595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D8F27-2A8F-1C2C-65E1-ACA0D19C5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555848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 &amp; System Architecture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B6F24-D181-A052-2CC2-A7CDDDB39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/>
              <a:t>Project Workflow:</a:t>
            </a: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/>
              <a:t>Data Collection:</a:t>
            </a:r>
            <a:r>
              <a:rPr lang="en-US" sz="2000"/>
              <a:t> Acquisition of images from the IP02 dataset.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/>
              <a:t>Data Preprocessing:</a:t>
            </a:r>
            <a:r>
              <a:rPr lang="en-US" sz="2000"/>
              <a:t> Resizing, normalization, and augmentation (flip, rotation, zoom).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/>
              <a:t>Model Training:</a:t>
            </a:r>
            <a:r>
              <a:rPr lang="en-US" sz="2000"/>
              <a:t> Use of transfer learning with MobileNetV2.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/>
              <a:t>Evaluation:</a:t>
            </a:r>
            <a:r>
              <a:rPr lang="en-US" sz="2000"/>
              <a:t> Analysis using training/validation curves, confusion matrix, and classification report.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/>
              <a:t>Deployment:</a:t>
            </a:r>
            <a:r>
              <a:rPr lang="en-US" sz="2000"/>
              <a:t> Saving the trained model for real-time pest monitoring.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09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1D6809-BAF3-FD69-88B7-F0FCF41B3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555848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Architecture &amp; Implementation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C5320-E170-FB0E-DDC3-8A8E772D4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Model Overview: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1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Base Model:</a:t>
            </a:r>
            <a:r>
              <a:rPr lang="en-US" sz="1100"/>
              <a:t> MobileNetV2 pre-trained on ImageNet (feature extractor).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Custom Layers:</a:t>
            </a:r>
            <a:r>
              <a:rPr lang="en-US" sz="1100"/>
              <a:t> Global average pooling, dropout (0.2), and dense softmax layer for 102 classes.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100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Training Specifications:</a:t>
            </a:r>
            <a:endParaRPr lang="en-US" sz="11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Input Size:</a:t>
            </a:r>
            <a:r>
              <a:rPr lang="en-US" sz="1100"/>
              <a:t> 224×224 pixels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Loss Function:</a:t>
            </a:r>
            <a:r>
              <a:rPr lang="en-US" sz="1100"/>
              <a:t> Categorical Crossentropy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Optimizer:</a:t>
            </a:r>
            <a:r>
              <a:rPr lang="en-US" sz="1100"/>
              <a:t> Adam (Learning Rate: 0.001)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Epochs:</a:t>
            </a:r>
            <a:r>
              <a:rPr lang="en-US" sz="1100"/>
              <a:t> 5 (adjustable)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Batch Size:</a:t>
            </a:r>
            <a:r>
              <a:rPr lang="en-US" sz="1100"/>
              <a:t> 32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100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 b="1"/>
              <a:t>Implementation Highlights:</a:t>
            </a:r>
            <a:endParaRPr lang="en-US" sz="11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/>
              <a:t>Data augmentation is applied during training to improve generalization.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100"/>
              <a:t>The base model’s weights are frozen to leverage ImageNet features.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1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2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4E3AA-F437-7ABD-1271-5DA58116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IN" dirty="0"/>
              <a:t>Results &amp; Evaluation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8E96-A62D-5510-EDDC-0E92A7859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100" b="1"/>
              <a:t>Performance Metrics:</a:t>
            </a:r>
          </a:p>
          <a:p>
            <a:pPr>
              <a:buNone/>
            </a:pP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Training and Validation Accuracy/Loss:</a:t>
            </a:r>
            <a:r>
              <a:rPr lang="en-US" sz="1100"/>
              <a:t> (Show line graphs from model training.)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Test Accuracy:</a:t>
            </a:r>
            <a:r>
              <a:rPr lang="en-US" sz="1100"/>
              <a:t>  53%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Test Loss:</a:t>
            </a:r>
            <a:r>
              <a:rPr lang="en-US" sz="1100"/>
              <a:t> 1.92</a:t>
            </a:r>
          </a:p>
          <a:p>
            <a:pPr>
              <a:buNone/>
            </a:pPr>
            <a:endParaRPr lang="en-US" sz="1100" b="1"/>
          </a:p>
          <a:p>
            <a:pPr>
              <a:buNone/>
            </a:pPr>
            <a:r>
              <a:rPr lang="en-US" sz="1100" b="1"/>
              <a:t>Visual Evaluation: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Confusion Matrix:</a:t>
            </a:r>
            <a:r>
              <a:rPr lang="en-US" sz="1100"/>
              <a:t> Highlights class-wise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Sample Predictions:</a:t>
            </a:r>
            <a:r>
              <a:rPr lang="en-US" sz="1100"/>
              <a:t> Correct vs. misclassified examples.</a:t>
            </a:r>
          </a:p>
          <a:p>
            <a:pPr>
              <a:buNone/>
            </a:pPr>
            <a:endParaRPr lang="en-US" sz="1100" b="1"/>
          </a:p>
          <a:p>
            <a:pPr>
              <a:buNone/>
            </a:pPr>
            <a:r>
              <a:rPr lang="en-US" sz="1100" b="1"/>
              <a:t>Key Observations: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High detection accuracy will be achieved for most pest classes, with a few challenging cases, if we run for more epochs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Data augmentation and transfer learning significantly improved performance.</a:t>
            </a:r>
          </a:p>
          <a:p>
            <a:endParaRPr lang="en-IN" sz="11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7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6EE69-02AA-970D-75F9-4A46EE054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58890"/>
            <a:ext cx="5294716" cy="454021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4C6A8B-709E-13D0-24D8-D8C05AA35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980194"/>
            <a:ext cx="5294715" cy="489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3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0E90F-B2CF-F4BB-D89D-1138E8E6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IN" dirty="0"/>
              <a:t>Discussion &amp; Future Work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60F54-365B-0F4E-2643-868725E70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100" b="1"/>
              <a:t>Discussion:</a:t>
            </a:r>
          </a:p>
          <a:p>
            <a:pPr>
              <a:buNone/>
            </a:pP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Challenges:</a:t>
            </a:r>
            <a:r>
              <a:rPr lang="en-US" sz="1100"/>
              <a:t> Variations in image quality, similarities between pest classes, and limited real-time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Model Limitations:</a:t>
            </a:r>
            <a:r>
              <a:rPr lang="en-US" sz="1100"/>
              <a:t> Misclassifications in visually similar pest classes and low-light conditions affecting performance.</a:t>
            </a:r>
          </a:p>
          <a:p>
            <a:pPr>
              <a:buNone/>
            </a:pPr>
            <a:endParaRPr lang="en-US" sz="1100" b="1"/>
          </a:p>
          <a:p>
            <a:pPr>
              <a:buNone/>
            </a:pPr>
            <a:r>
              <a:rPr lang="en-US" sz="1100" b="1"/>
              <a:t>Future Work: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Fine-tune the model with additional hyperparameter optimization.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Integrate real-time video analysis for continuous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Incorporate complementary sensor data (temperature, humidity) for multi-modal analysis.</a:t>
            </a:r>
          </a:p>
          <a:p>
            <a:pPr>
              <a:buNone/>
            </a:pPr>
            <a:endParaRPr lang="en-US" sz="1100" b="1"/>
          </a:p>
          <a:p>
            <a:pPr>
              <a:buNone/>
            </a:pPr>
            <a:r>
              <a:rPr lang="en-US" sz="1100" b="1"/>
              <a:t>Potential Impact: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Enhances precision agriculture by enabling smart, automated pest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Provides a scalable solution adaptable to different crop types and environmental conditions.</a:t>
            </a:r>
          </a:p>
          <a:p>
            <a:endParaRPr lang="en-IN" sz="11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23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C9B12-C301-4B3A-689E-449BF9CA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1EFFC-6A02-F567-2705-DC9F2CBBB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702" y="839733"/>
            <a:ext cx="6356612" cy="418444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b="1" dirty="0"/>
              <a:t>Conclusion:</a:t>
            </a:r>
          </a:p>
          <a:p>
            <a:endParaRPr lang="en-US" sz="2000" dirty="0"/>
          </a:p>
          <a:p>
            <a:r>
              <a:rPr lang="en-US" sz="2000" dirty="0"/>
              <a:t>Presented a vision-based system leveraging deep learning for pest monitoring in greenhouses.</a:t>
            </a:r>
          </a:p>
          <a:p>
            <a:r>
              <a:rPr lang="en-US" sz="2000" dirty="0"/>
              <a:t>Demonstrated the effectiveness of transfer learning with the MobileNetV2 model on the IP02 dataset.</a:t>
            </a:r>
          </a:p>
          <a:p>
            <a:r>
              <a:rPr lang="en-US" sz="2000" dirty="0"/>
              <a:t>Highlighted the potential benefits: improved detection accuracy, reduced manual labor, and sustainable pest management.</a:t>
            </a:r>
          </a:p>
          <a:p>
            <a:endParaRPr lang="en-US" sz="2000" b="1" dirty="0"/>
          </a:p>
          <a:p>
            <a:r>
              <a:rPr lang="en-US" sz="2000" b="1" dirty="0"/>
              <a:t>Next Steps:</a:t>
            </a:r>
            <a:endParaRPr lang="en-US" sz="2000" dirty="0"/>
          </a:p>
          <a:p>
            <a:r>
              <a:rPr lang="en-US" sz="2000" dirty="0"/>
              <a:t>Further model optimization and real-time deployment testing.</a:t>
            </a:r>
          </a:p>
          <a:p>
            <a:r>
              <a:rPr lang="en-US" sz="2000" dirty="0"/>
              <a:t>Exploration of multi-sensor integration for enhanced performance.</a:t>
            </a: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C193E-BD67-4D60-627D-0B62714600A6}"/>
              </a:ext>
            </a:extLst>
          </p:cNvPr>
          <p:cNvSpPr txBox="1"/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1155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729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Pest Monitoring in Greenhouses Using Vision Technology</vt:lpstr>
      <vt:lpstr>Introduction &amp; Background</vt:lpstr>
      <vt:lpstr>Motivation &amp; Research Significance</vt:lpstr>
      <vt:lpstr>Literature Review &amp; Related Work</vt:lpstr>
      <vt:lpstr>Dataset Overview</vt:lpstr>
      <vt:lpstr>Methodology &amp; System Architecture</vt:lpstr>
      <vt:lpstr>Model Architecture &amp; Implementation</vt:lpstr>
      <vt:lpstr>Results &amp; Evaluation</vt:lpstr>
      <vt:lpstr>PowerPoint Presentation</vt:lpstr>
      <vt:lpstr>Discussion &amp; 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Sharma</dc:creator>
  <cp:lastModifiedBy>Harshita Sharma</cp:lastModifiedBy>
  <cp:revision>2</cp:revision>
  <dcterms:created xsi:type="dcterms:W3CDTF">2025-04-16T14:44:57Z</dcterms:created>
  <dcterms:modified xsi:type="dcterms:W3CDTF">2025-04-22T04:59:27Z</dcterms:modified>
</cp:coreProperties>
</file>